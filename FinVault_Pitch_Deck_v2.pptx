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4" r:id="rId18"/>
    <p:sldId id="276" r:id="rId19"/>
    <p:sldId id="275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A0"/>
    <a:srgbClr val="DDD9C3"/>
    <a:srgbClr val="A1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0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1A002E"/>
              </a:gs>
              <a:gs pos="100000">
                <a:srgbClr val="A100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4754880"/>
            <a:ext cx="3502152" cy="36576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 dirty="0">
                <a:latin typeface="Graphik"/>
              </a:rPr>
              <a:t>FinVault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50A0"/>
                </a:solidFill>
                <a:latin typeface="Graphik"/>
              </a:rPr>
              <a:t>One App. Every Rupee. Total Clarity.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7030A0"/>
                </a:solidFill>
                <a:latin typeface="Graphik"/>
              </a:rPr>
              <a:t>The unified personal finance intelligence platform for India's next 100 million investors.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6355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raphik"/>
              </a:rPr>
              <a:t>Investor Pitch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raphik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" y="14356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29968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" y="20482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Solution &amp;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42616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" y="26609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426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Market Opportunity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" y="3273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552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Why Now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67912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3886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67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Unique Value Proposition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" y="4498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Competitive Landscape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93208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4904" y="51114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93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Business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17320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14356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Go-to-Market 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029968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9944" y="20482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Technology &amp;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642616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9944" y="26609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6426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Team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255264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9944" y="3273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2552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Financial Projections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867912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9944" y="3886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867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Traction &amp; Milestones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480560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9944" y="4498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50A0"/>
                </a:solidFill>
                <a:latin typeface="Graphik"/>
              </a:rPr>
              <a:t>India's retail investors are financially blind — and losing money because of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64592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Fragmented Finances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Stocks in Zerodha. MFs in Groww. FDs in bank apps. Gold in a locker. No single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27832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92424" y="164592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Zero Real-Time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83% of retail investors have no idea what their portfolio is worth right now. No live P&amp;L.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5624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164592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Missed Tax Deadlines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LTCG/STCG deadlines cost ₹1,200+ Cr in avoidable taxes annually. No proactive alerts.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43416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8007" y="1645920"/>
            <a:ext cx="6461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Blind Benchmarking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Is 12% CAGR good? Against Nifty 50? Against inflation? Investors have no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29107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Graphik"/>
              </a:rPr>
              <a:t>120M+ Indians own investments across 4+ platforms — none of them talk to each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5F2DB"/>
                </a:solidFill>
                <a:latin typeface="Graphik"/>
              </a:rPr>
              <a:t>FinVault — Your complete financial command </a:t>
            </a:r>
            <a:r>
              <a:rPr sz="1400" b="0" i="0" dirty="0" err="1">
                <a:solidFill>
                  <a:srgbClr val="05F2DB"/>
                </a:solidFill>
                <a:latin typeface="Graphik"/>
              </a:rPr>
              <a:t>centre</a:t>
            </a:r>
            <a:r>
              <a:rPr sz="1400" b="0" i="0" dirty="0">
                <a:solidFill>
                  <a:srgbClr val="05F2DB"/>
                </a:solidFill>
                <a:latin typeface="Graphik"/>
              </a:rPr>
              <a:t>, on mobile.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460073"/>
                </a:solidFill>
                <a:latin typeface="Graphik"/>
              </a:rPr>
              <a:t>What FinVault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9383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Unified Portfolio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03703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Every asset class — equities, MFs, gold, FDs, real estate — in one live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0631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7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Real-Time P&amp;L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44951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Live prices from NSE/BSE/AMFI. Day change, monthly performance, XIRR.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79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Intelligent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8619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LTCG harvesting windows. SIP reminders. Dividend credits. Price targets.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53127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39826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AI-Powered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27447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Sector concentration warnings, rebalancing nudges, tax-loss harvesting signals.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94375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23951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Receipt &amp; Bill Scanner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68695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On-device OCR (ML Kit). Snap a mutual fund statement — it's imported instantly.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460073"/>
                </a:solidFill>
                <a:latin typeface="Graphik"/>
              </a:rPr>
              <a:t>Before vs After FinVault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1920240"/>
          <a:ext cx="56692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Graphik"/>
                        </a:rPr>
                        <a:t>Before FinVault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Graphik"/>
                        </a:rPr>
                        <a:t>After FinVault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Portfolio View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 different apps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 unified screen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Day P&amp;L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Live, to-the-rupee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Tax Awareness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CA once a year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Real-time LTCG alert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vs Nifty 50, inflation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Data Entry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Manual spreadsheet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Auto-sync + OCR scan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F2DB"/>
                </a:solidFill>
                <a:latin typeface="Graphik"/>
              </a:rPr>
              <a:t>A ₹37,000 Cr+ addressable market growing at 28% CAGR.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383280" cy="3383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60073"/>
                </a:solidFill>
                <a:latin typeface="Graphik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Graphik"/>
              </a:rPr>
              <a:t>₹37,200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60073"/>
                </a:solidFill>
                <a:latin typeface="Graphik"/>
              </a:rPr>
              <a:t>300M smartphone
users who invest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383280" cy="3383280"/>
          </a:xfrm>
          <a:prstGeom prst="rect">
            <a:avLst/>
          </a:prstGeom>
          <a:solidFill>
            <a:srgbClr val="E8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100FF"/>
                </a:solidFill>
                <a:latin typeface="Graphik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₹9,300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100FF"/>
                </a:solidFill>
                <a:latin typeface="Graphik"/>
              </a:rPr>
              <a:t>80M active retail
investors on NSE/BSE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383280" cy="3383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raphik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raphik"/>
              </a:rPr>
              <a:t>₹930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Graphik"/>
              </a:rPr>
              <a:t>2M target users
in 3 years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120M+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Demat accounts in India
(CDSL + NSDL,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49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943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CAGR in new SIP registrations
(AMFI, 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49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₹19.94L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943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MF AUM as of March 2025
(7x growth in 8 years)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Why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5F2DB"/>
                </a:solidFill>
                <a:latin typeface="Graphik"/>
              </a:rPr>
              <a:t>Five forces converging to create the perfect moment for FinVault.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50876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Retail Explosion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64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NSE added 25M new accounts in 2024. Post-COVID investing culture is permanent. The audience has arrived.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46888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DPDP Act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24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India's Personal Data Protection law standardises financial data portability. AA Framework (RBI) enables consent-based data sharing.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42900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Open API 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85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NSE real-time APIs, SEBI SCORES, AMFI open NAV data, RBI sandbox — the infrastructure is now legal, fast, and free.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38912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Cross-Platform 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45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React Native + Expo SDK 56 lets a 2-person team ship iOS + Android simultaneously. No mobile dev tax.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534924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578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SIP Democratisation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05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6.7 Cr active SIP accounts. India's middle class is now systematically investing — they need equally systematic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Product — User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2103120" cy="32004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ONBOARD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User adds assets: ticker symbols, MF ISIN, gold grams, FD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463040"/>
            <a:ext cx="2103120" cy="3200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0632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AGGREGATE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0632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Graphik"/>
              </a:rPr>
              <a:t>FinVault pulls live prices: NSE API + AMFI NAV + gold via GOLDBEES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463040"/>
            <a:ext cx="2103120" cy="32004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VISUALISE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9864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4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Unified dashboard: total value, day P&amp;L, monthly sparklines, top movers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1463040"/>
            <a:ext cx="2103120" cy="32004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88936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6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8936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Push notifications: LTCG window open, SIP due, price target hit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6648" y="1463040"/>
            <a:ext cx="2103120" cy="32004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48088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88168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48088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Deep-links to broker apps; receipt scanner for offline investments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Key Screens: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25780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Dashboard (live portfolio value)   ·   Asset Detail (sparkline + P&amp;L)   ·   Add Asset (search + auto-fill)   ·   Notifications Center   ·   Bill Scanner (OCR)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Feature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4173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Live Portfolio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984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Real-time equity prices via NSE India direct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3317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Mutual fund NAVs from official AMFI feed (mfapi.in)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Gold via GOLDBEES NSE ETF (0.01g/unit accuracy)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30266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FD/RD with compound interest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3741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Real estate at user-entered 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4173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Performance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1984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Day P&amp;L with ₹ absolute + %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3317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Monthly performance sparklines (12-month)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XIRR calculation for irregular cashflows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0266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Sector-wise concentration breakdown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3741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Benchmark comparison vs Nifty 50 / Sensex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2" y="14173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Smart Alerts &amp; Reminders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984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LTCG (1-year) harvesting window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3317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SIP due date reminders (3 days ahead)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Dividend credit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0266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Price target (user-set)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3741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FD maturity reminders (30/7/1 day)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388620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Data Capture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4531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On-device OCR via Google ML 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48006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Manual asset entry with auto-ticker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51480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NSE/BSE symbol search with fuzzy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5495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Import from CSV (custom format)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5843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ISIN-based MF lookup and auto-name fill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388620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9392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Privacy &amp;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3984" y="44531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100% on-device data — no server, no cloud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48006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SQLite encrypted on-device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3984" y="51480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No login required — no PII collected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4" y="5495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No broker account linking — read-only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5843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DPDP Act 2023 compliant by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11312" y="388620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Cross-Platform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4531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React Native 0.85 + Expo SDK 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48006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iOS (16+) and Android (12+) from one codebase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51480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Drawer + Tab navigation (Expo Router)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4" y="5495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Dark/Light mode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5843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Push notifications (Expo Notifications)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Unique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F2DB"/>
                </a:solidFill>
                <a:latin typeface="Graphik"/>
              </a:rPr>
              <a:t>Four defensible moats that competitors cannot easily replicate.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17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73152" cy="19659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Privacy-First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05050"/>
                </a:solidFill>
                <a:latin typeface="Graphik"/>
              </a:rPr>
              <a:t>No account linking. No server. No PII. Users trust FinVault because it cannot be breached — the data never leaves the device. This is a structural advantage in a post-DPDP-Act India.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417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73152" cy="19659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554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NSE Direct + AMFI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Day change uses exchange's own previousClose via NSE India direct API — not Yahoo's dividend-adjusted historical series. This gives SBI Gold ETF accurate -0.9% instead of false +45%.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703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3703320"/>
            <a:ext cx="73152" cy="196596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3840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On-Device AI &amp;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251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Google ML Kit runs fully offline. Receipt scanning, investment statement OCR, and tax analysis happen on the phone — zero latency, zero cloud dependency, zero data leak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703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3703320"/>
            <a:ext cx="73152" cy="196596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840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Breadth ×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51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No competitor tracks equities + MFs + gold grams + FDs + real estate in a single live P&amp;L view. INDmoney comes close but requires account linking and stores data on-server.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50A0"/>
                </a:solidFill>
                <a:latin typeface="Graphik"/>
              </a:rPr>
              <a:t>FinVault wins on privacy, accuracy, and asset breadth simultaneously.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Feature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Graphik"/>
                        </a:rPr>
                        <a:t>FinVault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ET Money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INDmoney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Kuvera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Zerodha Coin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Equity Tracking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(NSE live)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Mutual Fund NAV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(AMFI)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Gold Tracking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(NSE ETF)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FD/RD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Real Estate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(manual)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 Account Linking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(privacy)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Fully On-Device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Live Day P&amp;L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(exact)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Bill Scanner / OCR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(ML Kit)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Tax Alert (LTCG)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 Tier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Full 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17320"/>
            <a:ext cx="3474720" cy="5074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417320"/>
            <a:ext cx="3474720" cy="640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60073"/>
                </a:solidFill>
                <a:latin typeface="Graphik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Graphik"/>
              </a:rPr>
              <a:t>₹0/month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34640"/>
            <a:ext cx="29260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301752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Up to 5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3814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Daily price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5876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Monthly P&amp;L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27939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Basic asset types (equity, MF)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0001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Manual data entry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417320"/>
            <a:ext cx="3474720" cy="5074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8" y="1417320"/>
            <a:ext cx="3474720" cy="64008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8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raphik"/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148840"/>
            <a:ext cx="3474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50A0"/>
                </a:solidFill>
                <a:latin typeface="Graphik"/>
              </a:rPr>
              <a:t>₹149/month
₹999/year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288" y="2834640"/>
            <a:ext cx="29260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301752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Unlimited 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43814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Real-time price refresh (5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85876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All asset types incl. gold, FD, 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27939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LTCG/STCG tax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70001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Bill scanner (OCR)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512064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Export to CSV /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554126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Benchmark vs Nifty/Sensex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596188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Priority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417320"/>
            <a:ext cx="3474720" cy="50749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47888" y="1417320"/>
            <a:ext cx="3474720" cy="64008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raphik"/>
              </a:rPr>
              <a:t>FAMILY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0A0"/>
                </a:solidFill>
                <a:latin typeface="Graphik"/>
              </a:rPr>
              <a:t>₹249/month
₹1,799/year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2208" y="2834640"/>
            <a:ext cx="29260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30768" y="301752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Everything in 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343814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Up to 5 family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85876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Shared family net worth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427939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Joint FD &amp; property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8" y="470001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Annual tax summary (CA-ready)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512064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Custom asset categories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Target: 3% free→Pro conversion · LTV ₹2,000+ · CAC ₹120 · Payback 3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Go-to-Market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41732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5819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Content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Target 200+ long-tail queries: "how to track SIP returns", "LTCG calculator India". Finance content ranks fast with YMYL expertise signals. Expected: 30K organic visits/month by Year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141732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0" y="152704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₹0 — own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37744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542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Reddit / Discord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77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r/IndiaInvestments (850K members), r/personalfinanceindia, Zerodha Kite Discord. Authentic product reviews by genuine users. Expected: 5K installs in first 90 days.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237744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20" y="248716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₹0 — organic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33756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35021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YouTube Shorts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3375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"I tracked my portfolio for 30 days" series. Finance influencers (1L-5L subscribers) doing sponsored reviews. CPM model ₹800-1,200.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333756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20" y="344728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₹4L/quarter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29768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44622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CA/Advisor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976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05050"/>
                </a:solidFill>
                <a:latin typeface="Graphik"/>
              </a:rPr>
              <a:t>White-label referral: CAs recommend FinVault to clients for tax tracking. Revenue share ₹30/conversion. 500 CAs → 15,000 users.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429768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32720" y="440740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₹30 CPA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25780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5422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App Store ASO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25780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Optimised for: "portfolio tracker India", "mutual fund tracker", "stock portfolio app". Target: Top 3 in Finance category within 6 months.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525780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32720" y="536752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₹0 — ASO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Technology &amp;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Layer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Technology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Why We Chose It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UI Framework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React Native 0.85 + Expo SDK 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Single codebase iOS/Android; Expo managed workflow reduces DevOps overhead by 80%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Navigation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Expo Router (file-based)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Drawer + Tab navigation; deep-linking for notification actions; type-safe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Database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Expo SQLite (on-device)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No network round-trip for portfolio reads; transactional; works fully offline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Equity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NSE India Direct API (quote-equity)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Official exchange data; actual previousClose — not dividend-adjusted; no API key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MF NAVs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mfapi.in (AMFI wrapper)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Official AMFI data; all 10,000+ schemes; scheme-code caching for speed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Gold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GOLDBEES via NSE + COMEX GC=F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Indian MCX-aligned price; NSE ETF maps 0.01g/unit; GC=F as offline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OCR/Scanning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Google ML Kit Text Recognition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Fully on-device; no data sent to cloud; supports Devanagari for Hindi statements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Push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Expo Notifications + local triggers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Schedule LTCG/SIP/FD alerts without a backend; works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State Management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React Context + SQLite as source of truth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No Redux complexity; SQLite is the single truth; Context for UI-only state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Financial Projections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Metric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1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2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3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4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5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Total Users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2,00,000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6,00,000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15,00,000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30,00,000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Pro Subscribers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42,000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3,60,000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Pro Conversion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7.0%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9.0%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12.0%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ARPU (Pro, ₹/yr)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Gross Revenue (₹L)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1,755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5,040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CAC (₹)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LTV:CAC Ratio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8.3x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11x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14.1x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18.6x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23.3x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EBITDA Margin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-120%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-35%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28%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42%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Team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7472" y="6473952"/>
            <a:ext cx="1149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  <a:latin typeface="Graphik"/>
              </a:rPr>
              <a:t>* Projections are pre-money estimates. Revenue figures in Indian Rupees Lakhs (₹L = ₹100,000). Break-even target: Year 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Traction &amp; Validation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Milestone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Status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Details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MVP Built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Full working app: equity + MF + gold + FD tracking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NSE Direct API Integrated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Live prices, actual previousClose, pChange from 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On-Device OCR (ML Kit)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Receipt &amp; statement scanning, fully offline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SQLite Persistence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market_cache, assets, transactions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Push Notifications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Local triggers: LTCG, SIP, FD maturity alerts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Beta Testing (Friends/Family)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 active beta users, 4-week retention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App Store Submission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Q3 2026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iOS TestFlight in 6 weeks, Play Store beta 8 weeks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First 1,000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Q4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Reddit/Discord + CA referral network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Pro Tier Launch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Q4 2026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Subscription via RevenueCat (IAP)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Seed Fundraise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Q3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₹2 Cr SAFE — this 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Risks &amp; Mitigation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Risk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Severity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Mitigation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NSE API rate-limits or blocks scraping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Yahoo Finance + COMEX GC=F fallback already coded; exploring official NSE data subscription (₹5L/yr at scale)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Large competitor (INDmoney, Zerodha) clones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Privacy-first positioning is structurally hard to copy for server-based apps. NSE accuracy advantage is a moat.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SEBI regulation requires broker-API licensing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000000"/>
                          </a:solidFill>
                          <a:latin typeface="Graphik"/>
                        </a:rPr>
                        <a:t>FinVault is read-only tracking, not execution. No SEBI investment advisor license required for portfolio dashboards.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Low free-to-Pro conversion (&lt; 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A/B test paywall triggers; add "Pro preview" for LTCG alerts; target CAs who mandate Pro for their clients.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App Store rejection for finance category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No real-money transactions; no stock execution; no brokerage features. Standard app, standard review.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Currency/FX risk on gold COMEX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Day-change % remains accurate regardless of FX rate (cancel in formula). Absolute price ~15-20% below MCX — disclosed in UI.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Founder single point of failure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Hiring CTO at Series A; full code documentation; weekly releases tracked in git.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Milestones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NOW → 3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App Store &amp; Play Store 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First 1,000 users (beta)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Pro subscription tier 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CA referral programme 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LTCG tax alert feature released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1417320"/>
            <a:ext cx="2743200" cy="50292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4408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3 → 12 months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01568" y="201168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8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10,000 active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1568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01568" y="283464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38728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500 Pro subscribers (₹5L ARR)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1568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01568" y="365760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38728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AI-powered rebalancing insights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1568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01568" y="448056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38728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CSV/Excel export (CA-ready)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1568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01568" y="530352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38728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Series A fundraise preparation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8776" y="1417320"/>
            <a:ext cx="2743200" cy="50292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08776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Year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45936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45936" y="201168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83096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2,00,000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45936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45936" y="283464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83096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10,000 Pro subs (₹1.1 Cr ARR)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45936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45936" y="365760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83096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Family tier launch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45936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45936" y="448056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83096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NPS/EPF integration (NSDL API)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45936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345936" y="530352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83096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Series A close (₹12–15 Cr target)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53144" y="1417320"/>
            <a:ext cx="2743200" cy="50292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53144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Year 3–5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90304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290304" y="201168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427464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6L–30L users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90304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290304" y="283464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427464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Full tax filing workflow (ITR-2)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90304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290304" y="365760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427464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B2B SaaS: white-label for CAs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90304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290304" y="448056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27464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International: NRI portfolio tracking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90304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290304" y="530352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27464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Exit / IPO readiness at ₹200–500 Cr ARR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206240" cy="680313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0A0"/>
                </a:solidFill>
              </a:rP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Road
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0312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What we build next — pending
licensing, partnerships &amp;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971800"/>
            <a:ext cx="1005840" cy="36576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324612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502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Near-term  ·  0–6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66344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919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Mid-term  ·  6–18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76072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Phase</a:t>
            </a:r>
            <a:r>
              <a:rPr sz="1100" b="1" i="0" dirty="0">
                <a:solidFill>
                  <a:srgbClr val="A100FF"/>
                </a:solidFill>
              </a:rPr>
              <a:t>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16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Long-term  ·  18+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502920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502920"/>
            <a:ext cx="54864" cy="96012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594360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F2DB"/>
                </a:solidFill>
              </a:rPr>
              <a:t>NSDL / CDSL CAS PDF 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85039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Users request their Consolidated Account Statement from NSDL/CDSL via email. FinVault parses the PDF to populate full MF + demat holdings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627632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34840" y="1627632"/>
            <a:ext cx="54864" cy="96012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9432" y="1719072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F2DB"/>
                </a:solidFill>
              </a:rPr>
              <a:t>Broker CSV Import  (Zerodha · Groww · Angel 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197510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One-click import of portfolio CSVs exported from popular Indian brokers. Covers equity holdings, P&amp;L, and transaction history.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788920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2788920"/>
            <a:ext cx="54864" cy="96012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2880360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0A0"/>
                </a:solidFill>
              </a:rPr>
              <a:t>Account Aggregator (AA) Integration  ·  Pending RBI License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13639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India's RBI-regulated AA framework allows users to share financial data across institutions with explicit consent — covering bank accounts, MFs, NPS, insurance and equities in one pull. Requires registration as a Financial Information User (FIU) with an AA operator (Finvu / OneMoney).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096512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4096512"/>
            <a:ext cx="54864" cy="96012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4187952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0A0"/>
                </a:solidFill>
              </a:rPr>
              <a:t>PAN-linked Portfolio Auto-Fetch  ·  Via AA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44398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Once AA-licensed: enter PAN + mobile OTP → auto-fetch all holdings from every linked institution without manual CSV uploads. Real-time sync with full transaction history.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5285232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34840" y="5285232"/>
            <a:ext cx="54864" cy="96012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9432" y="5376672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BFF"/>
                </a:solidFill>
              </a:rPr>
              <a:t>Broker OAuth  (Zerodha Kite · Upstox · Groww API)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563270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Official OAuth integrations with major broker APIs for live price streaming, one-tap order execution, and automatic P&amp;L reconciliation.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822960"/>
            <a:ext cx="118872" cy="118872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51960" y="1947672"/>
            <a:ext cx="118872" cy="118872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51960" y="3154680"/>
            <a:ext cx="118872" cy="118872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51960" y="4462272"/>
            <a:ext cx="118872" cy="118872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51960" y="5650992"/>
            <a:ext cx="118872" cy="118872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FinVault  ·  Accenture Innovation Cohort  · 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662025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Future Roadmap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460073"/>
              </a:gs>
              <a:gs pos="100000">
                <a:srgbClr val="1A002E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DD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177049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latin typeface="Graphik"/>
              </a:rPr>
              <a:t>FinVault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8288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50A0"/>
                </a:solidFill>
                <a:latin typeface="Graphik"/>
              </a:rPr>
              <a:t>One App. Every Rupee. Total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914409"/>
            <a:ext cx="48737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097289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chemeClr val="accent4">
                    <a:lumMod val="50000"/>
                  </a:schemeClr>
                </a:solidFill>
                <a:latin typeface="Graphik"/>
              </a:rPr>
              <a:t>India's retail investors deserve institutional-grade portfolio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02060"/>
                </a:solidFill>
                <a:latin typeface="Graphik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3601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latin typeface="Graphik"/>
              </a:rPr>
              <a:t>FinVault  ·  2026  ·  Confidential  ·  For investor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2700</Words>
  <Application>Microsoft Office PowerPoint</Application>
  <PresentationFormat>Custom</PresentationFormat>
  <Paragraphs>501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Graphik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Madhava, Anumula</cp:lastModifiedBy>
  <cp:revision>3</cp:revision>
  <dcterms:created xsi:type="dcterms:W3CDTF">2013-01-27T09:14:16Z</dcterms:created>
  <dcterms:modified xsi:type="dcterms:W3CDTF">2026-06-24T17:57:59Z</dcterms:modified>
  <cp:category/>
</cp:coreProperties>
</file>